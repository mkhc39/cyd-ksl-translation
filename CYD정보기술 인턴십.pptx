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69" r:id="rId14"/>
    <p:sldId id="268" r:id="rId15"/>
    <p:sldId id="271" r:id="rId16"/>
    <p:sldId id="273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BFF350-5689-A257-3DEC-3006F9193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B5FB8E-E1F7-71EF-970A-32B486A37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E28CB7-D201-CD26-DB0E-03029B1D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9D87B5-8CD2-7824-2DF5-9CB816C1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0A5976-45E4-860A-FC60-83DF7552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9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C34D3-630A-85E3-E3D8-DA1FF479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3C8B10-4DB4-3164-4B3C-B08B88197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AECED3-1DC8-A614-D716-5814E675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01F66F-12F8-85FF-443C-A86CF609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83EF66-5048-94E7-9456-906819D3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63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C2C74-A369-7AB1-B202-2D23E812A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2305E-FA27-17A3-3041-7707CE293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D1E463-4BA9-3262-830F-3948B779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5E8978-01A9-EE2C-33F8-3380B7ED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A3B872-37BB-2D86-F6D7-406C89B6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81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51840-7223-09EA-EAEF-CFE00E07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369D5F-450F-A5B6-9689-9FEBC7309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D84CCB-0E7F-1D73-7873-A6C53D630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43046-FF3F-5479-36CC-E0D92EFA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E732FA-516B-4CF8-923F-CA498F172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912B93-A15A-E228-7984-2FA186842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37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040B7-94FE-376C-FB0B-6DFC57165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5D1D38-E624-0A30-C30D-619346FDF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AA020D-3A36-45E4-C295-4D078EEDE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67A7DF-F91D-B904-034B-57FF28ACC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9BF2F2-6CE5-CC4F-5CDB-EA1EEDE24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6BE96A-B5AD-9338-8F7D-0459CB98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D2951B-DCCD-2500-FEEC-5670FC35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E3244C-81F6-F737-5634-D816609F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71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50577-0BBD-65B1-408B-3D282AF5A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BF6AF9-CBA9-6EB0-2580-8E793EE66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74966B-D87E-97AF-7BA9-0F47465D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C659CE-DD09-4FD3-47FB-F03D50E7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66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DB32C1-E1D3-5FDC-1769-B285F82A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946CEE-68D5-52BE-108B-E81C0BAB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6DEBAA-A1C8-30EC-6D75-AAEED9FB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00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BBA9D-783E-52E9-8E67-9A6336CE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89A2B2-C75E-641D-0668-4A60BCD0F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5146DD-1892-D662-F5B7-B1579BA2D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A4AC1-6FA4-7B7D-4883-05AD7CD3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00D468-F3D4-4828-C7A1-2B76C9B5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C44F08-1F17-7F17-C36D-8E8B22E2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388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383DB-91FC-DB2E-328A-CE224550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3E87AF-CC65-F1DD-6018-BE9CDEFDE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715452-01BD-42A6-78F0-084171587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D68272-5B62-C108-0511-F586459A9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0460F2-11F8-AC59-E8C2-15CBE0F1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5E225A-8882-690E-E7D5-8E4C4461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901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C25B7-005E-BC6C-4F12-72931A1F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9DD54A-604A-3451-FF81-198E5EE53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3A2F63-75F1-B5D2-7F5A-F29100375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B1912-7F1F-0D52-4D3C-F27622A4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387727-D9AE-C2A7-41AC-AC8A53CE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39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3EF98F-3023-ACE7-2895-4E3AC0B14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974B59-20A0-AEC1-C69F-0A3EBC9A8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092CC-E972-A58D-272A-1FCF6486F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0E431D-C9A4-34F2-FB7F-874135D77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C0D057-EA0E-CD7D-43F1-BBBAC0DE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46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79CA09-8086-CC09-1F31-E1D4015A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61684F-BD75-7D35-0784-073F45172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556D1C-6890-997E-B378-6A6E5DC7A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C2BB-D872-4AF4-B581-3DD606CE2E5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0EE46B-29F7-14B5-A3DA-8E4CEF799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EC2EC6-E20B-20DA-9523-FF77C331D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7AD17-314A-424A-B2C6-A4C01BDB22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59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f13CcIfL5yeix0y4V9zsm6BcErOG8zN7bMymXX_lBT8/edit?usp=shar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7DB5C-AFA9-196C-7EB9-A1CF9AD02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CYD</a:t>
            </a:r>
            <a:r>
              <a:rPr lang="ko-KR" altLang="en-US" dirty="0"/>
              <a:t>정보기술</a:t>
            </a:r>
            <a:r>
              <a:rPr lang="en-US" altLang="ko-KR" dirty="0"/>
              <a:t> </a:t>
            </a:r>
            <a:r>
              <a:rPr lang="ko-KR" altLang="en-US" dirty="0"/>
              <a:t>인턴십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6E40E0-AEEE-0231-A4FD-791A477D36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한국 </a:t>
            </a:r>
            <a:r>
              <a:rPr lang="ko-KR" altLang="en-US" dirty="0" err="1"/>
              <a:t>수어</a:t>
            </a:r>
            <a:r>
              <a:rPr lang="ko-KR" altLang="en-US" dirty="0"/>
              <a:t> 인식</a:t>
            </a:r>
            <a:r>
              <a:rPr lang="en-US" altLang="ko-KR" dirty="0"/>
              <a:t>/</a:t>
            </a:r>
            <a:r>
              <a:rPr lang="ko-KR" altLang="en-US" dirty="0"/>
              <a:t>변역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해리슨 민규 최</a:t>
            </a:r>
            <a:endParaRPr lang="en-US" altLang="ko-KR" dirty="0"/>
          </a:p>
          <a:p>
            <a:r>
              <a:rPr lang="en-AU" altLang="ko-KR" sz="1000" dirty="0"/>
              <a:t>https://github.com/MKHC39/CYD-KSL-Translation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81772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97193-E359-8E3B-064C-EF0E8499A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수어</a:t>
            </a:r>
            <a:r>
              <a:rPr lang="ko-KR" altLang="en-US" dirty="0"/>
              <a:t> 인식 시스템 설명</a:t>
            </a:r>
          </a:p>
        </p:txBody>
      </p:sp>
      <p:pic>
        <p:nvPicPr>
          <p:cNvPr id="5" name="그림 4" descr="사람, 인간의 얼굴, 의류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D43FBD-3062-1E24-D46E-B9ADC938D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318" y="1957003"/>
            <a:ext cx="2304299" cy="1760964"/>
          </a:xfrm>
          <a:prstGeom prst="rect">
            <a:avLst/>
          </a:prstGeom>
        </p:spPr>
      </p:pic>
      <p:pic>
        <p:nvPicPr>
          <p:cNvPr id="7" name="그림 6" descr="사람, 인간의 얼굴, 수화, 손가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8BCE18-1326-A607-7B95-C91E9F894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48" y="2035163"/>
            <a:ext cx="2304299" cy="1760964"/>
          </a:xfrm>
          <a:prstGeom prst="rect">
            <a:avLst/>
          </a:prstGeom>
        </p:spPr>
      </p:pic>
      <p:pic>
        <p:nvPicPr>
          <p:cNvPr id="9" name="그림 8" descr="사람, 인간의 얼굴, 손가락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4F9B90-269B-38DD-5D8D-371BCFAEE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951" y="2122332"/>
            <a:ext cx="2346325" cy="1760964"/>
          </a:xfrm>
          <a:prstGeom prst="rect">
            <a:avLst/>
          </a:prstGeom>
        </p:spPr>
      </p:pic>
      <p:pic>
        <p:nvPicPr>
          <p:cNvPr id="11" name="그림 10" descr="사람, 인간의 얼굴, 벽, 인물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BC7CF2-19DE-DB13-FE2B-9A5FF514A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272" y="2272894"/>
            <a:ext cx="2346325" cy="1762984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C789C712-3FCF-FE76-1509-129F93A068BB}"/>
              </a:ext>
            </a:extLst>
          </p:cNvPr>
          <p:cNvSpPr/>
          <p:nvPr/>
        </p:nvSpPr>
        <p:spPr>
          <a:xfrm>
            <a:off x="4296386" y="2678713"/>
            <a:ext cx="1508205" cy="9513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E2A7EF-12EC-10CE-0F9C-AE31D20DAD62}"/>
              </a:ext>
            </a:extLst>
          </p:cNvPr>
          <p:cNvSpPr txBox="1"/>
          <p:nvPr/>
        </p:nvSpPr>
        <p:spPr>
          <a:xfrm>
            <a:off x="6183572" y="2164963"/>
            <a:ext cx="5006110" cy="1477328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글로스</a:t>
            </a:r>
            <a:r>
              <a:rPr lang="ko-KR" altLang="en-US" dirty="0"/>
              <a:t> 텍스트 시퀀스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늙다 약하다 사람 밖 </a:t>
            </a:r>
            <a:r>
              <a:rPr lang="ko-KR" altLang="en-US" dirty="0" err="1"/>
              <a:t>하지마</a:t>
            </a:r>
            <a:r>
              <a:rPr lang="ko-KR" altLang="en-US" dirty="0"/>
              <a:t> 몸 조심 따뜻하다 감다 불타다 조심 왜 오늘 밤 시</a:t>
            </a:r>
            <a:r>
              <a:rPr lang="en-US" altLang="ko-KR" dirty="0"/>
              <a:t>:21</a:t>
            </a:r>
            <a:r>
              <a:rPr lang="ko-KR" altLang="en-US" dirty="0"/>
              <a:t>시</a:t>
            </a:r>
            <a:r>
              <a:rPr lang="en-US" altLang="ko-KR" dirty="0"/>
              <a:t>0</a:t>
            </a:r>
            <a:r>
              <a:rPr lang="ko-KR" altLang="en-US" dirty="0"/>
              <a:t>분 시</a:t>
            </a:r>
            <a:r>
              <a:rPr lang="en-US" altLang="ko-KR" dirty="0"/>
              <a:t>:9</a:t>
            </a:r>
            <a:r>
              <a:rPr lang="ko-KR" altLang="en-US" dirty="0"/>
              <a:t>시</a:t>
            </a:r>
            <a:r>
              <a:rPr lang="en-US" altLang="ko-KR" dirty="0"/>
              <a:t>0</a:t>
            </a:r>
            <a:r>
              <a:rPr lang="ko-KR" altLang="en-US" dirty="0"/>
              <a:t>분 경기 지역 양평 여주 용인 춥다 경보</a:t>
            </a:r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5CA69611-2E30-D4B4-7EF9-07B4137ACAEC}"/>
              </a:ext>
            </a:extLst>
          </p:cNvPr>
          <p:cNvSpPr/>
          <p:nvPr/>
        </p:nvSpPr>
        <p:spPr>
          <a:xfrm>
            <a:off x="7966190" y="3772091"/>
            <a:ext cx="720436" cy="10898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B0535A-9969-0738-B263-309BF0322D5D}"/>
              </a:ext>
            </a:extLst>
          </p:cNvPr>
          <p:cNvSpPr txBox="1"/>
          <p:nvPr/>
        </p:nvSpPr>
        <p:spPr>
          <a:xfrm>
            <a:off x="6054261" y="5235920"/>
            <a:ext cx="5264729" cy="1477328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한국어 문장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오늘 </a:t>
            </a:r>
            <a:r>
              <a:rPr lang="en-US" altLang="ko-KR" dirty="0"/>
              <a:t>21</a:t>
            </a:r>
            <a:r>
              <a:rPr lang="ko-KR" altLang="en-US" dirty="0"/>
              <a:t>시</a:t>
            </a:r>
            <a:r>
              <a:rPr lang="en-US" altLang="ko-KR" dirty="0"/>
              <a:t>00</a:t>
            </a:r>
            <a:r>
              <a:rPr lang="ko-KR" altLang="en-US" dirty="0"/>
              <a:t>분 경기</a:t>
            </a:r>
            <a:r>
              <a:rPr lang="en-US" altLang="ko-KR" dirty="0"/>
              <a:t>(</a:t>
            </a:r>
            <a:r>
              <a:rPr lang="ko-KR" altLang="en-US" dirty="0"/>
              <a:t>양평</a:t>
            </a:r>
            <a:r>
              <a:rPr lang="en-US" altLang="ko-KR" dirty="0"/>
              <a:t>,</a:t>
            </a:r>
            <a:r>
              <a:rPr lang="ko-KR" altLang="en-US" dirty="0"/>
              <a:t>여주</a:t>
            </a:r>
            <a:r>
              <a:rPr lang="en-US" altLang="ko-KR" dirty="0"/>
              <a:t>,</a:t>
            </a:r>
            <a:r>
              <a:rPr lang="ko-KR" altLang="en-US" dirty="0"/>
              <a:t>용인</a:t>
            </a:r>
            <a:r>
              <a:rPr lang="en-US" altLang="ko-KR" dirty="0"/>
              <a:t>) </a:t>
            </a:r>
            <a:r>
              <a:rPr lang="ko-KR" altLang="en-US" dirty="0"/>
              <a:t>한파 경보</a:t>
            </a:r>
            <a:r>
              <a:rPr lang="en-US" altLang="ko-KR" dirty="0"/>
              <a:t>, </a:t>
            </a:r>
            <a:r>
              <a:rPr lang="ko-KR" altLang="en-US" dirty="0"/>
              <a:t>노약자 외출자제 건강유의</a:t>
            </a:r>
            <a:r>
              <a:rPr lang="en-US" altLang="ko-KR" dirty="0"/>
              <a:t>, </a:t>
            </a:r>
            <a:r>
              <a:rPr lang="ko-KR" altLang="en-US" dirty="0"/>
              <a:t>동파방지</a:t>
            </a:r>
            <a:r>
              <a:rPr lang="en-US" altLang="ko-KR" dirty="0"/>
              <a:t>, </a:t>
            </a:r>
            <a:r>
              <a:rPr lang="ko-KR" altLang="en-US" dirty="0"/>
              <a:t>화재예방 등 피해에 주의바랍니다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73976-29E7-61AA-79F4-32939DF7AA27}"/>
              </a:ext>
            </a:extLst>
          </p:cNvPr>
          <p:cNvSpPr txBox="1"/>
          <p:nvPr/>
        </p:nvSpPr>
        <p:spPr>
          <a:xfrm>
            <a:off x="3850076" y="2035163"/>
            <a:ext cx="2530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Sign Language Recognition (SLR)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2A662F-5B3D-6C69-3A3A-86940055FC55}"/>
              </a:ext>
            </a:extLst>
          </p:cNvPr>
          <p:cNvSpPr txBox="1"/>
          <p:nvPr/>
        </p:nvSpPr>
        <p:spPr>
          <a:xfrm>
            <a:off x="8829964" y="4035878"/>
            <a:ext cx="2523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Sign Language Translation (SLT)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A10E3-6F95-7FEF-BF9C-99987BD002B5}"/>
              </a:ext>
            </a:extLst>
          </p:cNvPr>
          <p:cNvSpPr txBox="1"/>
          <p:nvPr/>
        </p:nvSpPr>
        <p:spPr>
          <a:xfrm>
            <a:off x="1686206" y="1568334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Video (V)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DDC41D-CB3B-640E-16C5-C0355CEE43E8}"/>
              </a:ext>
            </a:extLst>
          </p:cNvPr>
          <p:cNvSpPr txBox="1"/>
          <p:nvPr/>
        </p:nvSpPr>
        <p:spPr>
          <a:xfrm>
            <a:off x="8007930" y="1820488"/>
            <a:ext cx="87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Gloss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8FA6DC-5C85-D7BC-9D1F-014D59AFDAC2}"/>
              </a:ext>
            </a:extLst>
          </p:cNvPr>
          <p:cNvSpPr txBox="1"/>
          <p:nvPr/>
        </p:nvSpPr>
        <p:spPr>
          <a:xfrm>
            <a:off x="7800111" y="4866588"/>
            <a:ext cx="1293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Sentence</a:t>
            </a:r>
            <a:endParaRPr lang="ko-KR" altLang="en-US" dirty="0"/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24849DB4-5C96-2A03-587B-1C96D414653A}"/>
              </a:ext>
            </a:extLst>
          </p:cNvPr>
          <p:cNvSpPr/>
          <p:nvPr/>
        </p:nvSpPr>
        <p:spPr>
          <a:xfrm rot="18271488">
            <a:off x="4273058" y="3901432"/>
            <a:ext cx="914168" cy="21577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79AD64-70C9-153D-023D-10164EE2A352}"/>
              </a:ext>
            </a:extLst>
          </p:cNvPr>
          <p:cNvSpPr txBox="1"/>
          <p:nvPr/>
        </p:nvSpPr>
        <p:spPr>
          <a:xfrm>
            <a:off x="4572088" y="4273609"/>
            <a:ext cx="1559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End-to-end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9549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A541E-6A9D-6DD1-D4F3-3C2AB5EA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A58996-E993-20B1-82C9-73626CA5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비디오 </a:t>
            </a:r>
            <a:r>
              <a:rPr lang="en-US" altLang="ko-KR" dirty="0"/>
              <a:t>– </a:t>
            </a:r>
            <a:r>
              <a:rPr lang="ko-KR" altLang="en-US" dirty="0" err="1"/>
              <a:t>수어</a:t>
            </a:r>
            <a:r>
              <a:rPr lang="ko-KR" altLang="en-US" dirty="0"/>
              <a:t> 동작을 찍은 영상 파일</a:t>
            </a:r>
            <a:endParaRPr lang="en-US" altLang="ko-KR" dirty="0"/>
          </a:p>
          <a:p>
            <a:r>
              <a:rPr lang="ko-KR" altLang="en-US" dirty="0"/>
              <a:t>레이블 </a:t>
            </a:r>
            <a:r>
              <a:rPr lang="en-US" altLang="ko-KR" dirty="0"/>
              <a:t>– </a:t>
            </a:r>
            <a:r>
              <a:rPr lang="ko-KR" altLang="en-US" dirty="0"/>
              <a:t>비디오의 메타 데이터</a:t>
            </a:r>
            <a:endParaRPr lang="en-US" altLang="ko-KR" dirty="0"/>
          </a:p>
          <a:p>
            <a:pPr lvl="1"/>
            <a:r>
              <a:rPr lang="ko-KR" altLang="en-US" dirty="0" err="1"/>
              <a:t>글로스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시퀀스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키 포인트 </a:t>
            </a:r>
            <a:r>
              <a:rPr lang="en-US" altLang="ko-KR" dirty="0"/>
              <a:t>(</a:t>
            </a:r>
            <a:r>
              <a:rPr lang="ko-KR" altLang="en-US" dirty="0"/>
              <a:t>포즈 좌표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메타 데이터 </a:t>
            </a:r>
            <a:r>
              <a:rPr lang="en-US" altLang="ko-KR" dirty="0"/>
              <a:t>(</a:t>
            </a:r>
            <a:r>
              <a:rPr lang="ko-KR" altLang="en-US" dirty="0" err="1"/>
              <a:t>수어</a:t>
            </a:r>
            <a:r>
              <a:rPr lang="ko-KR" altLang="en-US" dirty="0"/>
              <a:t> 제공자 정보</a:t>
            </a:r>
            <a:r>
              <a:rPr lang="en-US" altLang="ko-KR" dirty="0"/>
              <a:t>, </a:t>
            </a:r>
            <a:r>
              <a:rPr lang="ko-KR" altLang="en-US" dirty="0"/>
              <a:t>영상 파일 아이디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br>
              <a:rPr lang="en-US" altLang="ko-KR" dirty="0"/>
            </a:br>
            <a:r>
              <a:rPr lang="en-US" altLang="ko-KR" dirty="0"/>
              <a:t>	</a:t>
            </a:r>
            <a:endParaRPr lang="ko-KR" alt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1EBE483-DD79-16CC-7D1B-57B8D5ED8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233541"/>
              </p:ext>
            </p:extLst>
          </p:nvPr>
        </p:nvGraphicFramePr>
        <p:xfrm>
          <a:off x="838200" y="4635477"/>
          <a:ext cx="10515601" cy="874470"/>
        </p:xfrm>
        <a:graphic>
          <a:graphicData uri="http://schemas.openxmlformats.org/drawingml/2006/table">
            <a:tbl>
              <a:tblPr/>
              <a:tblGrid>
                <a:gridCol w="683275">
                  <a:extLst>
                    <a:ext uri="{9D8B030D-6E8A-4147-A177-3AD203B41FA5}">
                      <a16:colId xmlns:a16="http://schemas.microsoft.com/office/drawing/2014/main" val="452038211"/>
                    </a:ext>
                  </a:extLst>
                </a:gridCol>
                <a:gridCol w="963107">
                  <a:extLst>
                    <a:ext uri="{9D8B030D-6E8A-4147-A177-3AD203B41FA5}">
                      <a16:colId xmlns:a16="http://schemas.microsoft.com/office/drawing/2014/main" val="29283337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293306553"/>
                    </a:ext>
                  </a:extLst>
                </a:gridCol>
                <a:gridCol w="591127">
                  <a:extLst>
                    <a:ext uri="{9D8B030D-6E8A-4147-A177-3AD203B41FA5}">
                      <a16:colId xmlns:a16="http://schemas.microsoft.com/office/drawing/2014/main" val="4039888989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35102052"/>
                    </a:ext>
                  </a:extLst>
                </a:gridCol>
                <a:gridCol w="1034473">
                  <a:extLst>
                    <a:ext uri="{9D8B030D-6E8A-4147-A177-3AD203B41FA5}">
                      <a16:colId xmlns:a16="http://schemas.microsoft.com/office/drawing/2014/main" val="4024890047"/>
                    </a:ext>
                  </a:extLst>
                </a:gridCol>
                <a:gridCol w="1385454">
                  <a:extLst>
                    <a:ext uri="{9D8B030D-6E8A-4147-A177-3AD203B41FA5}">
                      <a16:colId xmlns:a16="http://schemas.microsoft.com/office/drawing/2014/main" val="1378350984"/>
                    </a:ext>
                  </a:extLst>
                </a:gridCol>
                <a:gridCol w="1559178">
                  <a:extLst>
                    <a:ext uri="{9D8B030D-6E8A-4147-A177-3AD203B41FA5}">
                      <a16:colId xmlns:a16="http://schemas.microsoft.com/office/drawing/2014/main" val="3944010789"/>
                    </a:ext>
                  </a:extLst>
                </a:gridCol>
                <a:gridCol w="1004414">
                  <a:extLst>
                    <a:ext uri="{9D8B030D-6E8A-4147-A177-3AD203B41FA5}">
                      <a16:colId xmlns:a16="http://schemas.microsoft.com/office/drawing/2014/main" val="358560023"/>
                    </a:ext>
                  </a:extLst>
                </a:gridCol>
                <a:gridCol w="594449">
                  <a:extLst>
                    <a:ext uri="{9D8B030D-6E8A-4147-A177-3AD203B41FA5}">
                      <a16:colId xmlns:a16="http://schemas.microsoft.com/office/drawing/2014/main" val="1182765175"/>
                    </a:ext>
                  </a:extLst>
                </a:gridCol>
                <a:gridCol w="1277724">
                  <a:extLst>
                    <a:ext uri="{9D8B030D-6E8A-4147-A177-3AD203B41FA5}">
                      <a16:colId xmlns:a16="http://schemas.microsoft.com/office/drawing/2014/main" val="1168780722"/>
                    </a:ext>
                  </a:extLst>
                </a:gridCol>
              </a:tblGrid>
              <a:tr h="42089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Source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Name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Video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Pose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Gloss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Translation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Gloss Count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Sentence Count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Video Angles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Signers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Samples (sentence)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91651"/>
                  </a:ext>
                </a:extLst>
              </a:tr>
              <a:tr h="2241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AI Hub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NIASL2021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2C481F"/>
                          </a:solidFill>
                          <a:effectLst/>
                          <a:latin typeface="Roboto" panose="02000000000000000000" pitchFamily="2" charset="0"/>
                        </a:rPr>
                        <a:t>O</a:t>
                      </a:r>
                    </a:p>
                  </a:txBody>
                  <a:tcPr marL="20498" marR="20498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4C535E"/>
                          </a:solidFill>
                          <a:effectLst/>
                          <a:latin typeface="Roboto" panose="02000000000000000000" pitchFamily="2" charset="0"/>
                        </a:rPr>
                        <a:t>O</a:t>
                      </a:r>
                    </a:p>
                  </a:txBody>
                  <a:tcPr marL="20498" marR="20498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3E4186"/>
                          </a:solidFill>
                          <a:effectLst/>
                          <a:latin typeface="Roboto" panose="02000000000000000000" pitchFamily="2" charset="0"/>
                        </a:rPr>
                        <a:t>O</a:t>
                      </a:r>
                    </a:p>
                  </a:txBody>
                  <a:tcPr marL="20498" marR="20498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U" sz="13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O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3,000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2,000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20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536,000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878367"/>
                  </a:ext>
                </a:extLst>
              </a:tr>
              <a:tr h="2241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AI Hub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NIASLG1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2C481F"/>
                          </a:solidFill>
                          <a:effectLst/>
                          <a:latin typeface="Roboto" panose="02000000000000000000" pitchFamily="2" charset="0"/>
                        </a:rPr>
                        <a:t>O</a:t>
                      </a:r>
                    </a:p>
                  </a:txBody>
                  <a:tcPr marL="20498" marR="20498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4C535E"/>
                          </a:solidFill>
                          <a:effectLst/>
                          <a:latin typeface="Roboto" panose="02000000000000000000" pitchFamily="2" charset="0"/>
                        </a:rPr>
                        <a:t>O</a:t>
                      </a:r>
                    </a:p>
                  </a:txBody>
                  <a:tcPr marL="20498" marR="20498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U" sz="1300" b="0">
                          <a:solidFill>
                            <a:srgbClr val="3E4186"/>
                          </a:solidFill>
                          <a:effectLst/>
                          <a:latin typeface="Roboto" panose="02000000000000000000" pitchFamily="2" charset="0"/>
                        </a:rPr>
                        <a:t>O</a:t>
                      </a:r>
                    </a:p>
                  </a:txBody>
                  <a:tcPr marL="20498" marR="20498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U" sz="13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O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ko-KR" sz="1300" b="0" dirty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164,375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3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1~3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ko-KR" altLang="en-US" sz="1300" dirty="0">
                        <a:effectLst/>
                      </a:endParaRP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201,026</a:t>
                      </a:r>
                    </a:p>
                  </a:txBody>
                  <a:tcPr marL="54662" marR="54662" marT="13665" marB="1366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3552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BB67A3B-1D77-D1D9-6B4B-85CFBB34F314}"/>
              </a:ext>
            </a:extLst>
          </p:cNvPr>
          <p:cNvSpPr txBox="1"/>
          <p:nvPr/>
        </p:nvSpPr>
        <p:spPr>
          <a:xfrm>
            <a:off x="2350654" y="5644884"/>
            <a:ext cx="7490691" cy="256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Source: </a:t>
            </a:r>
            <a:r>
              <a:rPr lang="en-US" altLang="ko-KR" sz="1050" dirty="0">
                <a:hlinkClick r:id="rId2"/>
              </a:rPr>
              <a:t>https://docs.google.com/spreadsheets/d/1f13CcIfL5yeix0y4V9zsm6BcErOG8zN7bMymXX_lBT8/edit?usp=sharing 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31478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38DD7-2B2B-1978-579A-010A03B9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 Language Recognition (SLR)</a:t>
            </a:r>
            <a:br>
              <a:rPr lang="en-US" altLang="ko-KR" dirty="0"/>
            </a:br>
            <a:r>
              <a:rPr lang="en-US" altLang="ko-KR" dirty="0"/>
              <a:t>V -&gt; 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E87FB5-21EE-5EED-66FC-2CB321B92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Isolated Sign Language Recognition (ISLR, </a:t>
            </a:r>
            <a:r>
              <a:rPr lang="ko-KR" altLang="en-US" dirty="0"/>
              <a:t>단어 단위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Continuous Sign Language Recognition (CLSR, </a:t>
            </a:r>
            <a:r>
              <a:rPr lang="ko-KR" altLang="en-US" dirty="0"/>
              <a:t>문장 단위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6C4123-972F-3D16-6C02-734A05E9E8CB}"/>
              </a:ext>
            </a:extLst>
          </p:cNvPr>
          <p:cNvSpPr/>
          <p:nvPr/>
        </p:nvSpPr>
        <p:spPr>
          <a:xfrm>
            <a:off x="1357740" y="3204440"/>
            <a:ext cx="2244437" cy="8497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Video</a:t>
            </a:r>
            <a:r>
              <a:rPr lang="ko-KR" altLang="en-US" dirty="0"/>
              <a:t> </a:t>
            </a:r>
            <a:r>
              <a:rPr lang="en-US" altLang="ko-KR" dirty="0"/>
              <a:t>clip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30E743-66B4-12AC-C964-993C045FDE1F}"/>
              </a:ext>
            </a:extLst>
          </p:cNvPr>
          <p:cNvSpPr/>
          <p:nvPr/>
        </p:nvSpPr>
        <p:spPr>
          <a:xfrm>
            <a:off x="1357739" y="4265828"/>
            <a:ext cx="2244437" cy="8497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Label Gloss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AE5000-EA48-2D94-4A33-058E8C34C868}"/>
              </a:ext>
            </a:extLst>
          </p:cNvPr>
          <p:cNvSpPr/>
          <p:nvPr/>
        </p:nvSpPr>
        <p:spPr>
          <a:xfrm>
            <a:off x="1357738" y="5511187"/>
            <a:ext cx="2244437" cy="8497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Pose Data</a:t>
            </a:r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7C842503-8D90-A25A-C8EB-E5C02694581C}"/>
              </a:ext>
            </a:extLst>
          </p:cNvPr>
          <p:cNvSpPr/>
          <p:nvPr/>
        </p:nvSpPr>
        <p:spPr>
          <a:xfrm rot="1079025">
            <a:off x="3836984" y="3547686"/>
            <a:ext cx="849746" cy="6351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6034868-0168-59D6-43C6-12BD452EE185}"/>
              </a:ext>
            </a:extLst>
          </p:cNvPr>
          <p:cNvSpPr/>
          <p:nvPr/>
        </p:nvSpPr>
        <p:spPr>
          <a:xfrm rot="20961118">
            <a:off x="3836984" y="4256207"/>
            <a:ext cx="849746" cy="6180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7C179B-AF74-9515-B92E-03F98D2E1B63}"/>
              </a:ext>
            </a:extLst>
          </p:cNvPr>
          <p:cNvSpPr/>
          <p:nvPr/>
        </p:nvSpPr>
        <p:spPr>
          <a:xfrm>
            <a:off x="4853703" y="3115878"/>
            <a:ext cx="2452261" cy="1999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Feature Extractor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8F4D965-8E25-1A24-1894-797CB44E548A}"/>
              </a:ext>
            </a:extLst>
          </p:cNvPr>
          <p:cNvSpPr/>
          <p:nvPr/>
        </p:nvSpPr>
        <p:spPr>
          <a:xfrm>
            <a:off x="4853702" y="5511187"/>
            <a:ext cx="2452261" cy="8497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Pose Patterns</a:t>
            </a:r>
            <a:endParaRPr lang="ko-KR" altLang="en-US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5D407810-02C7-CF9D-4FAD-B75569FB9445}"/>
              </a:ext>
            </a:extLst>
          </p:cNvPr>
          <p:cNvSpPr/>
          <p:nvPr/>
        </p:nvSpPr>
        <p:spPr>
          <a:xfrm>
            <a:off x="3759688" y="5727990"/>
            <a:ext cx="949318" cy="4745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A501DC7-190C-AAC3-0F6B-AA3EC7F17498}"/>
              </a:ext>
            </a:extLst>
          </p:cNvPr>
          <p:cNvSpPr/>
          <p:nvPr/>
        </p:nvSpPr>
        <p:spPr>
          <a:xfrm rot="1079025">
            <a:off x="7500446" y="3987579"/>
            <a:ext cx="849746" cy="6351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F439FE1D-0C42-AF5B-6884-16B4A7B94745}"/>
              </a:ext>
            </a:extLst>
          </p:cNvPr>
          <p:cNvSpPr/>
          <p:nvPr/>
        </p:nvSpPr>
        <p:spPr>
          <a:xfrm rot="20961118">
            <a:off x="7527956" y="5584372"/>
            <a:ext cx="849746" cy="6180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86C8BDA-6452-B4D2-62FD-F5B719F0D01B}"/>
              </a:ext>
            </a:extLst>
          </p:cNvPr>
          <p:cNvSpPr/>
          <p:nvPr/>
        </p:nvSpPr>
        <p:spPr>
          <a:xfrm>
            <a:off x="8427488" y="3115878"/>
            <a:ext cx="2244436" cy="3245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Classifier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1247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5ADCA-27C9-0292-686B-E93D94BB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Pose-based Extractor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87048-6D17-103E-E056-F2457C3F7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Pose </a:t>
            </a:r>
            <a:r>
              <a:rPr lang="ko-KR" altLang="en-US" dirty="0"/>
              <a:t>데이터 수출은 오픈 소스 </a:t>
            </a:r>
            <a:r>
              <a:rPr lang="ko-KR" altLang="en-US" dirty="0" err="1"/>
              <a:t>라이브레리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OpenPose</a:t>
            </a:r>
            <a:r>
              <a:rPr lang="en-US" altLang="ko-KR" dirty="0"/>
              <a:t>, </a:t>
            </a:r>
            <a:r>
              <a:rPr lang="en-US" altLang="ko-KR" dirty="0" err="1"/>
              <a:t>MediaPipe</a:t>
            </a:r>
            <a:r>
              <a:rPr lang="en-US" altLang="ko-KR" dirty="0"/>
              <a:t>, </a:t>
            </a:r>
            <a:r>
              <a:rPr lang="en-US" altLang="ko-KR" dirty="0" err="1"/>
              <a:t>MMPose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모델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Hidden Markov Model (HMM)</a:t>
            </a:r>
          </a:p>
          <a:p>
            <a:r>
              <a:rPr lang="en-US" altLang="ko-KR" dirty="0"/>
              <a:t>Temporal Graph Convolutional Network</a:t>
            </a:r>
            <a:r>
              <a:rPr lang="ko-KR" altLang="en-US" dirty="0"/>
              <a:t> </a:t>
            </a:r>
            <a:r>
              <a:rPr lang="en-US" altLang="ko-KR" dirty="0"/>
              <a:t>(TGCN)</a:t>
            </a:r>
          </a:p>
          <a:p>
            <a:r>
              <a:rPr lang="en-US" altLang="ko-KR" dirty="0"/>
              <a:t>RNN</a:t>
            </a:r>
          </a:p>
          <a:p>
            <a:r>
              <a:rPr lang="en-US" altLang="ko-KR" dirty="0"/>
              <a:t>Transformers (BERT)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7744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732B9-3C63-447A-9B65-4005F536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RGB-based Feature Extraction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3B84A9-E6F1-8BAB-4776-669BEA10C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Feature extraction layer:</a:t>
            </a:r>
          </a:p>
          <a:p>
            <a:r>
              <a:rPr lang="en-US" altLang="ko-KR" sz="1800" dirty="0"/>
              <a:t>3DCNN</a:t>
            </a:r>
          </a:p>
          <a:p>
            <a:r>
              <a:rPr lang="en-US" altLang="ko-KR" sz="1800" dirty="0"/>
              <a:t>2DCNN + 1DCNN (temporal convolution)</a:t>
            </a:r>
          </a:p>
          <a:p>
            <a:pPr marL="0" indent="0">
              <a:buNone/>
            </a:pPr>
            <a:r>
              <a:rPr lang="en-US" altLang="ko-KR" sz="1800" dirty="0"/>
              <a:t>Temporal Connection Layer</a:t>
            </a:r>
          </a:p>
          <a:p>
            <a:r>
              <a:rPr lang="en-US" altLang="ko-KR" sz="1800" dirty="0" err="1"/>
              <a:t>BiLSTM</a:t>
            </a:r>
            <a:endParaRPr lang="en-US" altLang="ko-KR" sz="1800" dirty="0"/>
          </a:p>
          <a:p>
            <a:r>
              <a:rPr lang="en-US" altLang="ko-KR" sz="1800" dirty="0"/>
              <a:t>Connectionist Temporal Classification (CTC) Decoder</a:t>
            </a:r>
            <a:endParaRPr lang="en-US" altLang="ko-KR" sz="2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276FB0-BCC0-EF4B-9F0E-10FDF88D9483}"/>
              </a:ext>
            </a:extLst>
          </p:cNvPr>
          <p:cNvSpPr/>
          <p:nvPr/>
        </p:nvSpPr>
        <p:spPr>
          <a:xfrm>
            <a:off x="905158" y="4925798"/>
            <a:ext cx="1431642" cy="745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Video Clip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DA193B-07FF-3A9A-50C0-1526F625ACC0}"/>
              </a:ext>
            </a:extLst>
          </p:cNvPr>
          <p:cNvSpPr/>
          <p:nvPr/>
        </p:nvSpPr>
        <p:spPr>
          <a:xfrm>
            <a:off x="3050303" y="4925797"/>
            <a:ext cx="1603528" cy="745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2DCNN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075A4DE-7272-C94B-7DE2-8B4C7363F6D9}"/>
              </a:ext>
            </a:extLst>
          </p:cNvPr>
          <p:cNvSpPr/>
          <p:nvPr/>
        </p:nvSpPr>
        <p:spPr>
          <a:xfrm>
            <a:off x="2403758" y="5088589"/>
            <a:ext cx="579587" cy="4745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6DF1339-A8F9-9170-AE73-97DBF2507574}"/>
              </a:ext>
            </a:extLst>
          </p:cNvPr>
          <p:cNvSpPr/>
          <p:nvPr/>
        </p:nvSpPr>
        <p:spPr>
          <a:xfrm>
            <a:off x="5367334" y="4925796"/>
            <a:ext cx="1603528" cy="745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1DCNN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E8A094-7D53-D27A-9AA9-0E15849FA03A}"/>
              </a:ext>
            </a:extLst>
          </p:cNvPr>
          <p:cNvSpPr/>
          <p:nvPr/>
        </p:nvSpPr>
        <p:spPr>
          <a:xfrm>
            <a:off x="7684365" y="4925795"/>
            <a:ext cx="1603528" cy="745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BiLSTM</a:t>
            </a:r>
            <a:endParaRPr lang="en-US" altLang="ko-KR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8BA930A-826E-1F80-E304-29A10F0F1A70}"/>
              </a:ext>
            </a:extLst>
          </p:cNvPr>
          <p:cNvSpPr/>
          <p:nvPr/>
        </p:nvSpPr>
        <p:spPr>
          <a:xfrm>
            <a:off x="10001396" y="4925794"/>
            <a:ext cx="1603528" cy="745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CTC Decoder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95686760-D465-0D82-6264-F1D7B54C10EE}"/>
              </a:ext>
            </a:extLst>
          </p:cNvPr>
          <p:cNvSpPr/>
          <p:nvPr/>
        </p:nvSpPr>
        <p:spPr>
          <a:xfrm>
            <a:off x="7037820" y="5061202"/>
            <a:ext cx="579587" cy="4745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BDBD5244-957F-561F-1356-B0FE7D2BCAC8}"/>
              </a:ext>
            </a:extLst>
          </p:cNvPr>
          <p:cNvSpPr/>
          <p:nvPr/>
        </p:nvSpPr>
        <p:spPr>
          <a:xfrm>
            <a:off x="4720789" y="5061202"/>
            <a:ext cx="579587" cy="4745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F093F504-D7BF-8A29-CC08-D465528DEC5C}"/>
              </a:ext>
            </a:extLst>
          </p:cNvPr>
          <p:cNvSpPr/>
          <p:nvPr/>
        </p:nvSpPr>
        <p:spPr>
          <a:xfrm>
            <a:off x="9354851" y="5061200"/>
            <a:ext cx="579587" cy="4745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EAD02A-7A00-98E1-8561-22303AA60C38}"/>
              </a:ext>
            </a:extLst>
          </p:cNvPr>
          <p:cNvSpPr/>
          <p:nvPr/>
        </p:nvSpPr>
        <p:spPr>
          <a:xfrm>
            <a:off x="3050302" y="5864171"/>
            <a:ext cx="3920559" cy="745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3DCNN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2497C572-51B4-FC29-9A81-4155C6A4FD0E}"/>
              </a:ext>
            </a:extLst>
          </p:cNvPr>
          <p:cNvSpPr/>
          <p:nvPr/>
        </p:nvSpPr>
        <p:spPr>
          <a:xfrm rot="2654146">
            <a:off x="2387364" y="5740795"/>
            <a:ext cx="579587" cy="4745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E762DB6D-6F6B-BCCF-0EE3-6CBAEBC35623}"/>
              </a:ext>
            </a:extLst>
          </p:cNvPr>
          <p:cNvSpPr/>
          <p:nvPr/>
        </p:nvSpPr>
        <p:spPr>
          <a:xfrm rot="20041780">
            <a:off x="7112452" y="5770076"/>
            <a:ext cx="579587" cy="4745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6EB70A3B-C1AD-4722-2ACD-24A7A39F6F38}"/>
              </a:ext>
            </a:extLst>
          </p:cNvPr>
          <p:cNvSpPr/>
          <p:nvPr/>
        </p:nvSpPr>
        <p:spPr>
          <a:xfrm rot="5400000">
            <a:off x="4670377" y="306552"/>
            <a:ext cx="680407" cy="8786096"/>
          </a:xfrm>
          <a:prstGeom prst="leftBrace">
            <a:avLst>
              <a:gd name="adj1" fmla="val 71547"/>
              <a:gd name="adj2" fmla="val 5137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CBEB0F-6DB6-095D-2F7C-F08E10184630}"/>
              </a:ext>
            </a:extLst>
          </p:cNvPr>
          <p:cNvSpPr txBox="1"/>
          <p:nvPr/>
        </p:nvSpPr>
        <p:spPr>
          <a:xfrm>
            <a:off x="3480624" y="4016491"/>
            <a:ext cx="349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Feature Extraction (encoder)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3156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30DF0-EFB4-B758-99A4-527F4736B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CorrNet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DF2E5-E064-D64D-0AA0-E9C83742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ko-KR" dirty="0"/>
              <a:t>https://arxiv.org/pdf/2303.03202</a:t>
            </a:r>
            <a:endParaRPr lang="ko-KR" altLang="en-US" dirty="0"/>
          </a:p>
        </p:txBody>
      </p:sp>
      <p:pic>
        <p:nvPicPr>
          <p:cNvPr id="5" name="그림 4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CB5C17-751D-DAC6-79E8-471447D14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43" y="2369778"/>
            <a:ext cx="5400675" cy="4123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3E5DDD-3F99-7CB0-08AC-776BE940B4B8}"/>
              </a:ext>
            </a:extLst>
          </p:cNvPr>
          <p:cNvSpPr txBox="1"/>
          <p:nvPr/>
        </p:nvSpPr>
        <p:spPr>
          <a:xfrm>
            <a:off x="2795298" y="6311900"/>
            <a:ext cx="192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Source: </a:t>
            </a:r>
            <a:r>
              <a:rPr lang="en-US" altLang="ko-KR" dirty="0" err="1"/>
              <a:t>CorrNet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748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D0309-70F5-A1D5-F523-215003DC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End-to-End (V –&gt; S)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199C57-BE8F-8317-B000-6DCC3BA4D80C}"/>
              </a:ext>
            </a:extLst>
          </p:cNvPr>
          <p:cNvSpPr/>
          <p:nvPr/>
        </p:nvSpPr>
        <p:spPr>
          <a:xfrm>
            <a:off x="838200" y="3551598"/>
            <a:ext cx="2168814" cy="803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Video Clip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697EC4-D43B-3C2C-513E-172DC9186818}"/>
              </a:ext>
            </a:extLst>
          </p:cNvPr>
          <p:cNvSpPr/>
          <p:nvPr/>
        </p:nvSpPr>
        <p:spPr>
          <a:xfrm>
            <a:off x="3635087" y="1690688"/>
            <a:ext cx="3269672" cy="4525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Transformer</a:t>
            </a:r>
          </a:p>
          <a:p>
            <a:pPr algn="ctr"/>
            <a:r>
              <a:rPr lang="en-US" altLang="ko-KR" dirty="0"/>
              <a:t>(encoder / feature extraction)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34F24C-6833-768A-918D-4DB0C7DFD085}"/>
              </a:ext>
            </a:extLst>
          </p:cNvPr>
          <p:cNvSpPr/>
          <p:nvPr/>
        </p:nvSpPr>
        <p:spPr>
          <a:xfrm>
            <a:off x="7532832" y="1690688"/>
            <a:ext cx="3269672" cy="45253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Transformer</a:t>
            </a:r>
          </a:p>
          <a:p>
            <a:pPr algn="ctr"/>
            <a:r>
              <a:rPr lang="en-US" altLang="ko-KR" dirty="0"/>
              <a:t>(decoding)</a:t>
            </a:r>
            <a:endParaRPr lang="ko-KR" altLang="en-US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4DFF8524-53CF-8967-83A3-7647BC98385D}"/>
              </a:ext>
            </a:extLst>
          </p:cNvPr>
          <p:cNvSpPr/>
          <p:nvPr/>
        </p:nvSpPr>
        <p:spPr>
          <a:xfrm>
            <a:off x="3099378" y="3805382"/>
            <a:ext cx="443345" cy="3971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5C293F90-4FC5-D8D6-B628-24684F518836}"/>
              </a:ext>
            </a:extLst>
          </p:cNvPr>
          <p:cNvSpPr/>
          <p:nvPr/>
        </p:nvSpPr>
        <p:spPr>
          <a:xfrm>
            <a:off x="6997123" y="3810217"/>
            <a:ext cx="443345" cy="3971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469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8D388-A656-3821-D7FB-9EB9A341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ISLR vs CLSR vs End-to-End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1B09F0-096D-BE06-947F-270BB2441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ISLR</a:t>
            </a:r>
          </a:p>
          <a:p>
            <a:pPr lvl="1"/>
            <a:r>
              <a:rPr lang="en-US" altLang="ko-KR" dirty="0"/>
              <a:t>Feature extraction: Transformer (BERT), CNN + </a:t>
            </a:r>
            <a:r>
              <a:rPr lang="en-US" altLang="ko-KR" dirty="0" err="1"/>
              <a:t>BiLSTM</a:t>
            </a:r>
            <a:endParaRPr lang="en-US" altLang="ko-KR" dirty="0"/>
          </a:p>
          <a:p>
            <a:pPr lvl="1"/>
            <a:r>
              <a:rPr lang="en-US" altLang="ko-KR" dirty="0"/>
              <a:t>Linear </a:t>
            </a:r>
            <a:r>
              <a:rPr lang="en-US" altLang="ko-KR" dirty="0" err="1"/>
              <a:t>Classifer</a:t>
            </a:r>
            <a:r>
              <a:rPr lang="en-US" altLang="ko-KR" dirty="0"/>
              <a:t>: Cross entropy</a:t>
            </a:r>
          </a:p>
          <a:p>
            <a:r>
              <a:rPr lang="en-US" altLang="ko-KR" dirty="0"/>
              <a:t>CSLR</a:t>
            </a:r>
          </a:p>
          <a:p>
            <a:pPr lvl="1"/>
            <a:r>
              <a:rPr lang="en-US" altLang="ko-KR" dirty="0"/>
              <a:t>Feature Extraction: CNN + </a:t>
            </a:r>
            <a:r>
              <a:rPr lang="en-US" altLang="ko-KR" dirty="0" err="1"/>
              <a:t>BiLSTM</a:t>
            </a:r>
            <a:endParaRPr lang="en-US" altLang="ko-KR" dirty="0"/>
          </a:p>
          <a:p>
            <a:pPr lvl="1"/>
            <a:r>
              <a:rPr lang="en-US" altLang="ko-KR" dirty="0"/>
              <a:t>Linear Classifier: CTC loss + decode</a:t>
            </a:r>
          </a:p>
          <a:p>
            <a:r>
              <a:rPr lang="en-US" altLang="ko-KR" dirty="0"/>
              <a:t>End-to-End</a:t>
            </a:r>
          </a:p>
          <a:p>
            <a:pPr lvl="1"/>
            <a:r>
              <a:rPr lang="en-US" altLang="ko-KR" dirty="0"/>
              <a:t>Feature Extraction: Usually Transformer (can use CNN+LSTM)</a:t>
            </a:r>
          </a:p>
          <a:p>
            <a:pPr lvl="1"/>
            <a:r>
              <a:rPr lang="en-US" altLang="ko-KR" dirty="0"/>
              <a:t>Decoder: Transformer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7488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8BA3D-0C46-3658-C70C-EA480757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Preprocessing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41228C-DBED-357C-DA64-C70183E344F0}"/>
              </a:ext>
            </a:extLst>
          </p:cNvPr>
          <p:cNvSpPr/>
          <p:nvPr/>
        </p:nvSpPr>
        <p:spPr>
          <a:xfrm>
            <a:off x="1597891" y="1939638"/>
            <a:ext cx="1422400" cy="563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mp4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B10497-6D7E-D05A-0F1E-F17825E11E5A}"/>
              </a:ext>
            </a:extLst>
          </p:cNvPr>
          <p:cNvSpPr/>
          <p:nvPr/>
        </p:nvSpPr>
        <p:spPr>
          <a:xfrm>
            <a:off x="1597891" y="3071278"/>
            <a:ext cx="1422400" cy="822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Morpheme </a:t>
            </a:r>
            <a:r>
              <a:rPr lang="en-US" altLang="ko-KR" dirty="0" err="1"/>
              <a:t>json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5216A6B-C89F-B5D7-EC92-D20D9BEF2ACD}"/>
              </a:ext>
            </a:extLst>
          </p:cNvPr>
          <p:cNvCxnSpPr>
            <a:cxnSpLocks/>
          </p:cNvCxnSpPr>
          <p:nvPr/>
        </p:nvCxnSpPr>
        <p:spPr>
          <a:xfrm>
            <a:off x="3251200" y="2253673"/>
            <a:ext cx="111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3B656BA-D1CE-00AA-7EEF-AB037DA0F6EE}"/>
              </a:ext>
            </a:extLst>
          </p:cNvPr>
          <p:cNvCxnSpPr>
            <a:cxnSpLocks/>
          </p:cNvCxnSpPr>
          <p:nvPr/>
        </p:nvCxnSpPr>
        <p:spPr>
          <a:xfrm>
            <a:off x="3306618" y="3429000"/>
            <a:ext cx="1062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ED71FF-507C-58A6-0613-BF4F9ABF4D48}"/>
              </a:ext>
            </a:extLst>
          </p:cNvPr>
          <p:cNvSpPr/>
          <p:nvPr/>
        </p:nvSpPr>
        <p:spPr>
          <a:xfrm>
            <a:off x="4655127" y="1865746"/>
            <a:ext cx="5495637" cy="4442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Cached </a:t>
            </a:r>
            <a:r>
              <a:rPr lang="en-US" altLang="ko-KR" dirty="0" err="1"/>
              <a:t>npy</a:t>
            </a:r>
            <a:r>
              <a:rPr lang="en-US" altLang="ko-KR" dirty="0"/>
              <a:t> file: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 err="1"/>
              <a:t>dict</a:t>
            </a:r>
            <a:r>
              <a:rPr lang="en-US" altLang="ko-KR" dirty="0"/>
              <a:t>: keys: ['video', '</a:t>
            </a:r>
            <a:r>
              <a:rPr lang="en-US" altLang="ko-KR" dirty="0" err="1"/>
              <a:t>label_id</a:t>
            </a:r>
            <a:r>
              <a:rPr lang="en-US" altLang="ko-KR" dirty="0"/>
              <a:t>', '</a:t>
            </a:r>
            <a:r>
              <a:rPr lang="en-US" altLang="ko-KR" dirty="0" err="1"/>
              <a:t>label_str</a:t>
            </a:r>
            <a:r>
              <a:rPr lang="en-US" altLang="ko-KR" dirty="0"/>
              <a:t>', '</a:t>
            </a:r>
            <a:r>
              <a:rPr lang="en-US" altLang="ko-KR" dirty="0" err="1"/>
              <a:t>video_len</a:t>
            </a:r>
            <a:r>
              <a:rPr lang="en-US" altLang="ko-KR" dirty="0"/>
              <a:t>', '</a:t>
            </a:r>
            <a:r>
              <a:rPr lang="en-US" altLang="ko-KR" dirty="0" err="1"/>
              <a:t>kept_indices</a:t>
            </a:r>
            <a:r>
              <a:rPr lang="en-US" altLang="ko-KR" dirty="0"/>
              <a:t>', '</a:t>
            </a:r>
            <a:r>
              <a:rPr lang="en-US" altLang="ko-KR" dirty="0" err="1"/>
              <a:t>meta_json</a:t>
            </a:r>
            <a:r>
              <a:rPr lang="en-US" altLang="ko-KR" dirty="0"/>
              <a:t>’, ‘</a:t>
            </a:r>
            <a:r>
              <a:rPr lang="en-US" altLang="ko-KR" dirty="0" err="1"/>
              <a:t>label_ids</a:t>
            </a:r>
            <a:r>
              <a:rPr lang="en-US" altLang="ko-KR" dirty="0"/>
              <a:t>’]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video:</a:t>
            </a:r>
            <a:r>
              <a:rPr lang="ko-KR" altLang="en-US" dirty="0"/>
              <a:t> </a:t>
            </a:r>
            <a:r>
              <a:rPr lang="en-US" altLang="ko-KR" dirty="0" err="1"/>
              <a:t>ndarray</a:t>
            </a:r>
            <a:r>
              <a:rPr lang="en-US" altLang="ko-KR" dirty="0"/>
              <a:t> (T,H,W,C) uint8</a:t>
            </a:r>
          </a:p>
          <a:p>
            <a:pPr algn="ctr"/>
            <a:r>
              <a:rPr lang="en-US" altLang="ko-KR" dirty="0" err="1"/>
              <a:t>label_id</a:t>
            </a:r>
            <a:r>
              <a:rPr lang="en-US" altLang="ko-KR" dirty="0"/>
              <a:t>: 0 if NIASLG1, 1~n for NIASL2021</a:t>
            </a:r>
          </a:p>
          <a:p>
            <a:pPr algn="ctr"/>
            <a:r>
              <a:rPr lang="en-US" altLang="ko-KR" dirty="0" err="1"/>
              <a:t>label_str</a:t>
            </a:r>
            <a:r>
              <a:rPr lang="en-US" altLang="ko-KR" dirty="0"/>
              <a:t>: Labels</a:t>
            </a:r>
          </a:p>
          <a:p>
            <a:pPr algn="ctr"/>
            <a:r>
              <a:rPr lang="en-US" altLang="ko-KR" dirty="0" err="1"/>
              <a:t>label_ids</a:t>
            </a:r>
            <a:r>
              <a:rPr lang="en-US" altLang="ko-KR" dirty="0"/>
              <a:t>: No entry for NIASL2021, list of label ids for NIASLG1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 err="1"/>
              <a:t>gloss_dict.npy</a:t>
            </a:r>
            <a:r>
              <a:rPr lang="en-US" altLang="ko-KR" dirty="0"/>
              <a:t> </a:t>
            </a:r>
          </a:p>
          <a:p>
            <a:pPr algn="ctr"/>
            <a:r>
              <a:rPr lang="en-US" altLang="ko-KR" dirty="0"/>
              <a:t>train/</a:t>
            </a:r>
            <a:r>
              <a:rPr lang="en-US" altLang="ko-KR" dirty="0" err="1"/>
              <a:t>dev_info.npy</a:t>
            </a:r>
            <a:endParaRPr lang="en-US" altLang="ko-KR" dirty="0"/>
          </a:p>
          <a:p>
            <a:pPr algn="ctr"/>
            <a:r>
              <a:rPr lang="en-US" altLang="ko-KR" dirty="0"/>
              <a:t>manifest for debugging</a:t>
            </a:r>
          </a:p>
          <a:p>
            <a:pPr algn="ctr"/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9207AF-0943-8FED-D50F-5B133CEB4498}"/>
              </a:ext>
            </a:extLst>
          </p:cNvPr>
          <p:cNvSpPr txBox="1"/>
          <p:nvPr/>
        </p:nvSpPr>
        <p:spPr>
          <a:xfrm>
            <a:off x="2170546" y="2572575"/>
            <a:ext cx="34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474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579EF-B7AA-F4FE-6856-9FAEC8320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SLR </a:t>
            </a:r>
            <a:r>
              <a:rPr lang="ko-KR" altLang="en-US" dirty="0"/>
              <a:t>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2FE5E-14B1-B275-94DD-DB4295A93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ISLR</a:t>
            </a:r>
          </a:p>
          <a:p>
            <a:pPr lvl="1"/>
            <a:r>
              <a:rPr lang="en-US" altLang="ko-KR" dirty="0"/>
              <a:t>Words 1-100 NIASL2021 Model</a:t>
            </a:r>
          </a:p>
          <a:p>
            <a:pPr lvl="1"/>
            <a:r>
              <a:rPr lang="ko-KR" altLang="en-US" dirty="0"/>
              <a:t>데이터 사용량</a:t>
            </a:r>
            <a:r>
              <a:rPr lang="en-US" altLang="ko-KR" dirty="0"/>
              <a:t> 100/3000 (3.3%)</a:t>
            </a:r>
          </a:p>
          <a:p>
            <a:pPr lvl="1"/>
            <a:r>
              <a:rPr lang="en-US" altLang="ko-KR" dirty="0"/>
              <a:t>Top-1 Accuracy 93.49%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CSLR</a:t>
            </a:r>
          </a:p>
          <a:p>
            <a:pPr lvl="1"/>
            <a:r>
              <a:rPr lang="en-US" altLang="ko-KR" dirty="0"/>
              <a:t>NIASLG1 COLDWAVE Words 1-400 Model</a:t>
            </a:r>
          </a:p>
          <a:p>
            <a:pPr lvl="1"/>
            <a:r>
              <a:rPr lang="ko-KR" altLang="en-US" dirty="0"/>
              <a:t>데이터 사용량</a:t>
            </a:r>
            <a:r>
              <a:rPr lang="en-US" altLang="ko-KR" dirty="0"/>
              <a:t> </a:t>
            </a:r>
            <a:r>
              <a:rPr lang="ko-KR" altLang="en-US" dirty="0"/>
              <a:t>한파 영상 </a:t>
            </a:r>
            <a:r>
              <a:rPr lang="en-US" altLang="ko-KR" dirty="0"/>
              <a:t>1015/6531 (15.5%), </a:t>
            </a:r>
            <a:r>
              <a:rPr lang="ko-KR" altLang="en-US" dirty="0"/>
              <a:t>총 영상 </a:t>
            </a:r>
            <a:r>
              <a:rPr lang="en-US" altLang="ko-KR" dirty="0"/>
              <a:t>1,015/201,026 (0.5%)</a:t>
            </a:r>
          </a:p>
          <a:p>
            <a:pPr lvl="1"/>
            <a:r>
              <a:rPr lang="en-US" altLang="ko-KR" dirty="0"/>
              <a:t>Word Error Rate (WER) 27.97%</a:t>
            </a:r>
          </a:p>
        </p:txBody>
      </p:sp>
    </p:spTree>
    <p:extLst>
      <p:ext uri="{BB962C8B-B14F-4D97-AF65-F5344CB8AC3E}">
        <p14:creationId xmlns:p14="http://schemas.microsoft.com/office/powerpoint/2010/main" val="921193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72D29-B108-DCF0-3E5B-286CC621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 Language Translation (SLT)</a:t>
            </a:r>
            <a:br>
              <a:rPr lang="en-US" altLang="ko-KR" dirty="0"/>
            </a:br>
            <a:r>
              <a:rPr lang="en-US" altLang="ko-KR" dirty="0"/>
              <a:t>G -&gt; 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02EFB0-1730-BEC0-6C99-3FC23F4FF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err="1"/>
              <a:t>글로스</a:t>
            </a:r>
            <a:r>
              <a:rPr lang="ko-KR" altLang="en-US" dirty="0"/>
              <a:t> 시퀀스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ko-KR" altLang="en-US" dirty="0"/>
              <a:t>청주 시청 병 있다 없다 상관없다 코로나 무료 코로나검사 주다 가능 가깝다 시설 방문 집 </a:t>
            </a:r>
            <a:r>
              <a:rPr lang="ko-KR" altLang="en-US" dirty="0" err="1"/>
              <a:t>집</a:t>
            </a:r>
            <a:r>
              <a:rPr lang="ko-KR" altLang="en-US" dirty="0"/>
              <a:t> </a:t>
            </a:r>
            <a:r>
              <a:rPr lang="en-US" altLang="ko-KR" dirty="0"/>
              <a:t>1 </a:t>
            </a:r>
            <a:r>
              <a:rPr lang="ko-KR" altLang="en-US" dirty="0"/>
              <a:t>사람 방문 </a:t>
            </a:r>
            <a:r>
              <a:rPr lang="ko-KR" altLang="en-US" dirty="0" err="1"/>
              <a:t>방문</a:t>
            </a:r>
            <a:r>
              <a:rPr lang="ko-KR" altLang="en-US" dirty="0"/>
              <a:t> 코로나검사 정말 가족 감염 막다 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한국어 문장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청주시청</a:t>
            </a:r>
            <a:r>
              <a:rPr lang="en-US" altLang="ko-KR" dirty="0"/>
              <a:t>] </a:t>
            </a:r>
            <a:r>
              <a:rPr lang="ko-KR" altLang="en-US" dirty="0"/>
              <a:t>증상유무와 관계없이 코로나 무료 진단검사 가능</a:t>
            </a:r>
            <a:r>
              <a:rPr lang="en-US" altLang="ko-KR" dirty="0"/>
              <a:t>. </a:t>
            </a:r>
            <a:r>
              <a:rPr lang="ko-KR" altLang="en-US" dirty="0"/>
              <a:t>가까운 보건소 선별진료소에서 가구당 </a:t>
            </a:r>
            <a:r>
              <a:rPr lang="en-US" altLang="ko-KR" dirty="0"/>
              <a:t>1</a:t>
            </a:r>
            <a:r>
              <a:rPr lang="ko-KR" altLang="en-US" dirty="0"/>
              <a:t>명 검사로 가족내 감염을 예방해 주시기 바랍니다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778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0DB8-3E4F-0347-A38A-D46D864B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D714D-39EC-3ECD-6424-0446AD5E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 Language Translation (SLT)</a:t>
            </a:r>
            <a:br>
              <a:rPr lang="en-US" altLang="ko-KR" dirty="0"/>
            </a:br>
            <a:r>
              <a:rPr lang="en-US" altLang="ko-KR" dirty="0"/>
              <a:t>G -&gt; 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53F4F9-B109-FCF4-1473-9A6404C13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err="1"/>
              <a:t>글로스</a:t>
            </a:r>
            <a:r>
              <a:rPr lang="ko-KR" altLang="en-US" dirty="0"/>
              <a:t> 시퀀스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ko-KR" altLang="en-US" dirty="0"/>
              <a:t>청주 시청 병 있다 없다 상관없다 코로나 무료 코로나검사 주다 가능 가깝다 시설 방문 집 </a:t>
            </a:r>
            <a:r>
              <a:rPr lang="ko-KR" altLang="en-US" dirty="0" err="1"/>
              <a:t>집</a:t>
            </a:r>
            <a:r>
              <a:rPr lang="ko-KR" altLang="en-US" dirty="0"/>
              <a:t> </a:t>
            </a:r>
            <a:r>
              <a:rPr lang="en-US" altLang="ko-KR" dirty="0"/>
              <a:t>1 </a:t>
            </a:r>
            <a:r>
              <a:rPr lang="ko-KR" altLang="en-US" dirty="0"/>
              <a:t>사람 방문 </a:t>
            </a:r>
            <a:r>
              <a:rPr lang="ko-KR" altLang="en-US" dirty="0" err="1"/>
              <a:t>방문</a:t>
            </a:r>
            <a:r>
              <a:rPr lang="ko-KR" altLang="en-US" dirty="0"/>
              <a:t> 코로나검사 정말 가족 감염 막다 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한국어 문장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청주시청</a:t>
            </a:r>
            <a:r>
              <a:rPr lang="en-US" altLang="ko-KR" dirty="0"/>
              <a:t>] </a:t>
            </a:r>
            <a:r>
              <a:rPr lang="ko-KR" altLang="en-US" dirty="0"/>
              <a:t>증상유무와 관계없이 코로나 무료 진단검사 가능</a:t>
            </a:r>
            <a:r>
              <a:rPr lang="en-US" altLang="ko-KR" dirty="0"/>
              <a:t>. </a:t>
            </a:r>
            <a:r>
              <a:rPr lang="ko-KR" altLang="en-US" dirty="0"/>
              <a:t>가까운 보건소 선별진료소에서 가구당 </a:t>
            </a:r>
            <a:r>
              <a:rPr lang="en-US" altLang="ko-KR" dirty="0"/>
              <a:t>1</a:t>
            </a:r>
            <a:r>
              <a:rPr lang="ko-KR" altLang="en-US" dirty="0"/>
              <a:t>명 검사로 가족내 감염을 예방해 주시기 바랍니다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8262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9F98E-4CC5-AA9C-803F-AE00D16F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12DDE-7552-3E47-B964-E409649E1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 Language Translation (SLT)</a:t>
            </a:r>
            <a:br>
              <a:rPr lang="en-US" altLang="ko-KR" dirty="0"/>
            </a:br>
            <a:r>
              <a:rPr lang="en-US" altLang="ko-KR" dirty="0"/>
              <a:t>G -&gt; 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FF9DE4-42F3-0106-EAF4-DA400E055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한국어 문장</a:t>
            </a:r>
            <a:r>
              <a:rPr lang="en-US" altLang="ko-KR" sz="1800" dirty="0"/>
              <a:t>:</a:t>
            </a:r>
          </a:p>
          <a:p>
            <a:pPr marL="0" indent="0">
              <a:buNone/>
            </a:pPr>
            <a:r>
              <a:rPr lang="en-US" altLang="ko-KR" sz="1800" dirty="0"/>
              <a:t>[</a:t>
            </a:r>
            <a:r>
              <a:rPr lang="ko-KR" altLang="en-US" sz="1800" dirty="0"/>
              <a:t>청주시청</a:t>
            </a:r>
            <a:r>
              <a:rPr lang="en-US" altLang="ko-KR" sz="1800" dirty="0"/>
              <a:t>] </a:t>
            </a:r>
            <a:r>
              <a:rPr lang="ko-KR" altLang="en-US" sz="1800" dirty="0"/>
              <a:t>증상유무와 관계없이 코로나 무료 진단검사 가능</a:t>
            </a:r>
            <a:r>
              <a:rPr lang="en-US" altLang="ko-KR" sz="1800" dirty="0"/>
              <a:t>. </a:t>
            </a:r>
            <a:r>
              <a:rPr lang="ko-KR" altLang="en-US" sz="1800" dirty="0"/>
              <a:t>가까운 보건소 선별진료소에서 가구당 </a:t>
            </a:r>
            <a:r>
              <a:rPr lang="en-US" altLang="ko-KR" sz="1800" dirty="0"/>
              <a:t>1</a:t>
            </a:r>
            <a:r>
              <a:rPr lang="ko-KR" altLang="en-US" sz="1800" dirty="0"/>
              <a:t>명 검사로 가족내 감염을 예방해 주시기 바랍니다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GPT 5.2</a:t>
            </a:r>
          </a:p>
          <a:p>
            <a:pPr marL="0" indent="0">
              <a:buNone/>
            </a:pPr>
            <a:r>
              <a:rPr lang="ko-KR" altLang="en-US" sz="1800" dirty="0"/>
              <a:t>청주시청에서 병원 방문 여부와 관계없이 코로나</a:t>
            </a:r>
            <a:r>
              <a:rPr lang="en-US" altLang="ko-KR" sz="1800" dirty="0"/>
              <a:t>19 </a:t>
            </a:r>
            <a:r>
              <a:rPr lang="ko-KR" altLang="en-US" sz="1800" dirty="0"/>
              <a:t>무료 검사를 받을 수 있습니다</a:t>
            </a:r>
            <a:r>
              <a:rPr lang="en-US" altLang="ko-KR" sz="1800" dirty="0"/>
              <a:t>. </a:t>
            </a:r>
            <a:r>
              <a:rPr lang="ko-KR" altLang="en-US" sz="1800" dirty="0"/>
              <a:t>가까운 선별검사소를 방문해 </a:t>
            </a:r>
            <a:r>
              <a:rPr lang="en-US" altLang="ko-KR" sz="1800" dirty="0"/>
              <a:t>1</a:t>
            </a:r>
            <a:r>
              <a:rPr lang="ko-KR" altLang="en-US" sz="1800" dirty="0"/>
              <a:t>인당 검사를 받으면 가족 감염을 막는 데 큰 도움이 됩니다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AU" altLang="ko-KR" sz="1800" dirty="0"/>
              <a:t>Gemini 3 Flash</a:t>
            </a:r>
          </a:p>
          <a:p>
            <a:pPr marL="0" indent="0">
              <a:buNone/>
            </a:pPr>
            <a:r>
              <a:rPr lang="ko-KR" altLang="en-US" sz="1800" dirty="0"/>
              <a:t>청주시청에서 </a:t>
            </a:r>
            <a:r>
              <a:rPr lang="ko-KR" altLang="en-US" sz="1800" dirty="0" err="1"/>
              <a:t>안내드립니다</a:t>
            </a:r>
            <a:r>
              <a:rPr lang="en-US" altLang="ko-KR" sz="1800" dirty="0"/>
              <a:t>. </a:t>
            </a:r>
            <a:r>
              <a:rPr lang="ko-KR" altLang="en-US" sz="1800" dirty="0"/>
              <a:t>증상 유무와 상관없이 누구나 무료로 코로나 검사가 가능합니다</a:t>
            </a:r>
            <a:r>
              <a:rPr lang="en-US" altLang="ko-KR" sz="1800" dirty="0"/>
              <a:t>. </a:t>
            </a:r>
            <a:r>
              <a:rPr lang="ko-KR" altLang="en-US" sz="1800" dirty="0"/>
              <a:t>가까운 검사 시설을 방문해 주시고</a:t>
            </a:r>
            <a:r>
              <a:rPr lang="en-US" altLang="ko-KR" sz="1800" dirty="0"/>
              <a:t>, </a:t>
            </a:r>
            <a:r>
              <a:rPr lang="ko-KR" altLang="en-US" sz="1800" dirty="0"/>
              <a:t>특히 가구당 한 명은 반드시 검사를 받아 가족 내 감염을 예방해 주시기 바랍니다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65041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4DCA6-FB30-249A-26CB-21DDCF3C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9002E-D929-2861-B77A-4012E35C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 Language Translation (SLT)</a:t>
            </a:r>
            <a:br>
              <a:rPr lang="en-US" altLang="ko-KR" dirty="0"/>
            </a:br>
            <a:r>
              <a:rPr lang="en-US" altLang="ko-KR" dirty="0"/>
              <a:t>G -&gt; 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A1F7B3-289A-D4A2-EB74-56C9DBB4F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dirty="0" err="1"/>
              <a:t>글로스</a:t>
            </a:r>
            <a:r>
              <a:rPr lang="ko-KR" altLang="en-US" sz="1400" dirty="0"/>
              <a:t> 시퀀스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새벽 시</a:t>
            </a:r>
            <a:r>
              <a:rPr lang="en-US" altLang="ko-KR" sz="1400" dirty="0"/>
              <a:t>:6</a:t>
            </a:r>
            <a:r>
              <a:rPr lang="ko-KR" altLang="en-US" sz="1400" dirty="0"/>
              <a:t>시</a:t>
            </a:r>
            <a:r>
              <a:rPr lang="en-US" altLang="ko-KR" sz="1400" dirty="0"/>
              <a:t>20</a:t>
            </a:r>
            <a:r>
              <a:rPr lang="ko-KR" altLang="en-US" sz="1400" dirty="0"/>
              <a:t>분 전남 진도 장소 </a:t>
            </a:r>
            <a:r>
              <a:rPr lang="ko-KR" altLang="en-US" sz="1400" dirty="0" err="1"/>
              <a:t>눈내리다</a:t>
            </a:r>
            <a:r>
              <a:rPr lang="ko-KR" altLang="en-US" sz="1400" dirty="0"/>
              <a:t> 경보 북쪽 버스 타다 비닐하우스 집 </a:t>
            </a:r>
            <a:r>
              <a:rPr lang="ko-KR" altLang="en-US" sz="1400" dirty="0" err="1"/>
              <a:t>집</a:t>
            </a:r>
            <a:r>
              <a:rPr lang="ko-KR" altLang="en-US" sz="1400" dirty="0"/>
              <a:t> 지시 </a:t>
            </a:r>
            <a:r>
              <a:rPr lang="ko-KR" altLang="en-US" sz="1400" dirty="0" err="1"/>
              <a:t>눈내리다</a:t>
            </a:r>
            <a:r>
              <a:rPr lang="ko-KR" altLang="en-US" sz="1400" dirty="0"/>
              <a:t> 빗자루 길 미끄럽다 조심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한국어 문장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en-US" altLang="ko-KR" sz="1400" dirty="0"/>
              <a:t>6</a:t>
            </a:r>
            <a:r>
              <a:rPr lang="ko-KR" altLang="en-US" sz="1400" dirty="0"/>
              <a:t>시</a:t>
            </a:r>
            <a:r>
              <a:rPr lang="en-US" altLang="ko-KR" sz="1400" dirty="0"/>
              <a:t>20</a:t>
            </a:r>
            <a:r>
              <a:rPr lang="ko-KR" altLang="en-US" sz="1400" dirty="0"/>
              <a:t>분 전남</a:t>
            </a:r>
            <a:r>
              <a:rPr lang="en-US" altLang="ko-KR" sz="1400" dirty="0"/>
              <a:t>(</a:t>
            </a:r>
            <a:r>
              <a:rPr lang="ko-KR" altLang="en-US" sz="1400" dirty="0"/>
              <a:t>진도</a:t>
            </a:r>
            <a:r>
              <a:rPr lang="en-US" altLang="ko-KR" sz="1400" dirty="0"/>
              <a:t>) </a:t>
            </a:r>
            <a:r>
              <a:rPr lang="ko-KR" altLang="en-US" sz="1400" dirty="0"/>
              <a:t>대설 경보</a:t>
            </a:r>
            <a:r>
              <a:rPr lang="en-US" altLang="ko-KR" sz="1400" dirty="0"/>
              <a:t>, </a:t>
            </a:r>
            <a:r>
              <a:rPr lang="ko-KR" altLang="en-US" sz="1400" dirty="0"/>
              <a:t>대중교통이용</a:t>
            </a:r>
            <a:r>
              <a:rPr lang="en-US" altLang="ko-KR" sz="1400" dirty="0"/>
              <a:t>, </a:t>
            </a:r>
            <a:r>
              <a:rPr lang="ko-KR" altLang="en-US" sz="1400" dirty="0"/>
              <a:t>비닐하우스 와 내 집 앞 눈 치우기</a:t>
            </a:r>
            <a:r>
              <a:rPr lang="en-US" altLang="ko-KR" sz="1400" dirty="0"/>
              <a:t>, </a:t>
            </a:r>
            <a:r>
              <a:rPr lang="ko-KR" altLang="en-US" sz="1400" dirty="0"/>
              <a:t>눈길 미끄럼 등 주의하세요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GPT 5.2</a:t>
            </a:r>
          </a:p>
          <a:p>
            <a:pPr marL="0" indent="0">
              <a:buNone/>
            </a:pPr>
            <a:r>
              <a:rPr lang="ko-KR" altLang="en-US" sz="1400" dirty="0"/>
              <a:t>오늘 새벽 </a:t>
            </a:r>
            <a:r>
              <a:rPr lang="en-US" altLang="ko-KR" sz="1400" dirty="0"/>
              <a:t>6</a:t>
            </a:r>
            <a:r>
              <a:rPr lang="ko-KR" altLang="en-US" sz="1400" dirty="0"/>
              <a:t>시 </a:t>
            </a:r>
            <a:r>
              <a:rPr lang="en-US" altLang="ko-KR" sz="1400" dirty="0"/>
              <a:t>20</a:t>
            </a:r>
            <a:r>
              <a:rPr lang="ko-KR" altLang="en-US" sz="1400" dirty="0"/>
              <a:t>분경 전남 진도 지역에 대설 경보가 발효되었습니다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특히 북쪽 방면 버스 이용객과 비닐하우스</a:t>
            </a:r>
            <a:r>
              <a:rPr lang="en-US" altLang="ko-KR" sz="1400" dirty="0"/>
              <a:t>, </a:t>
            </a:r>
            <a:r>
              <a:rPr lang="ko-KR" altLang="en-US" sz="1400" dirty="0"/>
              <a:t>주택 인근 주민께서는 눈으로 인해 길이 미끄러우니 빗자루 등으로 제설하고 안전에 각별히 유의해 주시기 바랍니다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AU" altLang="ko-KR" sz="1400" dirty="0"/>
              <a:t>Gemini 3 Flash</a:t>
            </a:r>
          </a:p>
          <a:p>
            <a:pPr marL="0" indent="0">
              <a:buNone/>
            </a:pPr>
            <a:r>
              <a:rPr lang="ko-KR" altLang="en-US" sz="1400" dirty="0"/>
              <a:t>새벽 </a:t>
            </a:r>
            <a:r>
              <a:rPr lang="en-US" altLang="ko-KR" sz="1400" dirty="0"/>
              <a:t>6</a:t>
            </a:r>
            <a:r>
              <a:rPr lang="ko-KR" altLang="en-US" sz="1400" dirty="0"/>
              <a:t>시 </a:t>
            </a:r>
            <a:r>
              <a:rPr lang="en-US" altLang="ko-KR" sz="1400" dirty="0"/>
              <a:t>20</a:t>
            </a:r>
            <a:r>
              <a:rPr lang="ko-KR" altLang="en-US" sz="1400" dirty="0"/>
              <a:t>분 전남 진도 지역에 대설경보가 발효되었습니다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대중교통을 이용해 주시고</a:t>
            </a:r>
            <a:r>
              <a:rPr lang="en-US" altLang="ko-KR" sz="1400" dirty="0"/>
              <a:t>, </a:t>
            </a:r>
            <a:r>
              <a:rPr lang="ko-KR" altLang="en-US" sz="1400" dirty="0"/>
              <a:t>비닐하우스 등 시설물 점검 및 집 앞 눈 치우기에 동참하여 빙판길 미끄럼 사고에 주의하시기 바랍니다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74995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E6A54-D7FF-AFD5-CBAD-FB088850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 Language Translation (SLT)</a:t>
            </a:r>
            <a:br>
              <a:rPr lang="en-US" altLang="ko-KR" dirty="0"/>
            </a:br>
            <a:r>
              <a:rPr lang="en-US" altLang="ko-KR" dirty="0"/>
              <a:t>G -&gt; S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9A87668-04F5-7997-EDEB-E19D95AD92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935438"/>
              </p:ext>
            </p:extLst>
          </p:nvPr>
        </p:nvGraphicFramePr>
        <p:xfrm>
          <a:off x="3029527" y="1939636"/>
          <a:ext cx="6132945" cy="389774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44315">
                  <a:extLst>
                    <a:ext uri="{9D8B030D-6E8A-4147-A177-3AD203B41FA5}">
                      <a16:colId xmlns:a16="http://schemas.microsoft.com/office/drawing/2014/main" val="21482290"/>
                    </a:ext>
                  </a:extLst>
                </a:gridCol>
                <a:gridCol w="2044315">
                  <a:extLst>
                    <a:ext uri="{9D8B030D-6E8A-4147-A177-3AD203B41FA5}">
                      <a16:colId xmlns:a16="http://schemas.microsoft.com/office/drawing/2014/main" val="1905023739"/>
                    </a:ext>
                  </a:extLst>
                </a:gridCol>
                <a:gridCol w="2044315">
                  <a:extLst>
                    <a:ext uri="{9D8B030D-6E8A-4147-A177-3AD203B41FA5}">
                      <a16:colId xmlns:a16="http://schemas.microsoft.com/office/drawing/2014/main" val="2616114824"/>
                    </a:ext>
                  </a:extLst>
                </a:gridCol>
              </a:tblGrid>
              <a:tr h="7795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ko-KR" altLang="en-US" dirty="0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AU" b="1">
                          <a:effectLst/>
                        </a:rPr>
                        <a:t>BERTScore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AU" b="1">
                          <a:effectLst/>
                        </a:rPr>
                        <a:t>COMET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537433174"/>
                  </a:ext>
                </a:extLst>
              </a:tr>
              <a:tr h="7795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AU" dirty="0">
                          <a:effectLst/>
                        </a:rPr>
                        <a:t>GPT5.2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dirty="0">
                          <a:effectLst/>
                        </a:rPr>
                        <a:t>0.92203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0.865952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719521686"/>
                  </a:ext>
                </a:extLst>
              </a:tr>
              <a:tr h="7795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AU" dirty="0">
                          <a:effectLst/>
                        </a:rPr>
                        <a:t>GPT-OSS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0.905586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0.808032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819998194"/>
                  </a:ext>
                </a:extLst>
              </a:tr>
              <a:tr h="7795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AU">
                          <a:effectLst/>
                        </a:rPr>
                        <a:t>Gemini 3 Flash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0.928626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0.878687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965615027"/>
                  </a:ext>
                </a:extLst>
              </a:tr>
              <a:tr h="77954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AU">
                          <a:effectLst/>
                        </a:rPr>
                        <a:t>Gemini 3 Pro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0.930102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ko-KR" dirty="0">
                          <a:effectLst/>
                        </a:rPr>
                        <a:t>0.883101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013534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813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F7397-ED3A-EF4C-1140-57716D9F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남은 작업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A0E40B-F23F-C23A-6D8A-74505ABCF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CLSR</a:t>
            </a:r>
            <a:r>
              <a:rPr lang="ko-KR" altLang="en-US" dirty="0"/>
              <a:t>에서 수출한 </a:t>
            </a:r>
            <a:r>
              <a:rPr lang="ko-KR" altLang="en-US" dirty="0" err="1"/>
              <a:t>글로스</a:t>
            </a:r>
            <a:r>
              <a:rPr lang="ko-KR" altLang="en-US" dirty="0"/>
              <a:t> 시퀀스를 그대로 </a:t>
            </a:r>
            <a:r>
              <a:rPr lang="en-US" altLang="ko-KR" dirty="0"/>
              <a:t>LLM</a:t>
            </a:r>
            <a:r>
              <a:rPr lang="ko-KR" altLang="en-US" dirty="0"/>
              <a:t>에 넣어보기</a:t>
            </a:r>
            <a:endParaRPr lang="en-US" altLang="ko-KR" dirty="0"/>
          </a:p>
          <a:p>
            <a:r>
              <a:rPr lang="ko-KR" altLang="en-US" dirty="0"/>
              <a:t>더 많은 데이터로 학습시켜보기</a:t>
            </a:r>
            <a:endParaRPr lang="en-US" altLang="ko-KR" dirty="0"/>
          </a:p>
          <a:p>
            <a:r>
              <a:rPr lang="en-US" altLang="ko-KR" dirty="0"/>
              <a:t>Transformer </a:t>
            </a:r>
            <a:r>
              <a:rPr lang="ko-KR" altLang="en-US" dirty="0"/>
              <a:t>인코딩 </a:t>
            </a:r>
            <a:r>
              <a:rPr lang="en-US" altLang="ko-KR" dirty="0"/>
              <a:t>with pre-training</a:t>
            </a:r>
          </a:p>
          <a:p>
            <a:r>
              <a:rPr lang="en-US" altLang="ko-KR" dirty="0"/>
              <a:t>Transformer based end-to-end model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5705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973</Words>
  <Application>Microsoft Office PowerPoint</Application>
  <PresentationFormat>와이드스크린</PresentationFormat>
  <Paragraphs>190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Roboto</vt:lpstr>
      <vt:lpstr>Office 테마</vt:lpstr>
      <vt:lpstr>CYD정보기술 인턴십</vt:lpstr>
      <vt:lpstr>수어 인식 시스템 설명</vt:lpstr>
      <vt:lpstr>데이터셋</vt:lpstr>
      <vt:lpstr>Sign Language Recognition (SLR) V -&gt; G</vt:lpstr>
      <vt:lpstr>Pose-based Extractor</vt:lpstr>
      <vt:lpstr>RGB-based Feature Extraction</vt:lpstr>
      <vt:lpstr>CorrNet</vt:lpstr>
      <vt:lpstr>End-to-End (V –&gt; S)</vt:lpstr>
      <vt:lpstr>ISLR vs CLSR vs End-to-End</vt:lpstr>
      <vt:lpstr>Preprocessing</vt:lpstr>
      <vt:lpstr>SLR 결과</vt:lpstr>
      <vt:lpstr>Sign Language Translation (SLT) G -&gt; S</vt:lpstr>
      <vt:lpstr>Sign Language Translation (SLT) G -&gt; S</vt:lpstr>
      <vt:lpstr>Sign Language Translation (SLT) G -&gt; S</vt:lpstr>
      <vt:lpstr>Sign Language Translation (SLT) G -&gt; S</vt:lpstr>
      <vt:lpstr>Sign Language Translation (SLT) G -&gt; S</vt:lpstr>
      <vt:lpstr>남은 작업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씨와이디정보기술</dc:creator>
  <cp:lastModifiedBy>씨와이디정보기술</cp:lastModifiedBy>
  <cp:revision>1</cp:revision>
  <dcterms:created xsi:type="dcterms:W3CDTF">2026-01-22T05:05:19Z</dcterms:created>
  <dcterms:modified xsi:type="dcterms:W3CDTF">2026-01-22T06:47:37Z</dcterms:modified>
</cp:coreProperties>
</file>